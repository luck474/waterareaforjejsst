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E5F6"/>
                </a:solidFill>
                <a:latin typeface="Arial"/>
              </a:defRPr>
            </a:pPr>
            <a:r>
              <a:rPr lang="ja-JP" altLang="en-US" sz="1100" b="0" i="0" u="none" strike="noStrike">
                <a:solidFill>
                  <a:srgbClr val="CCE5F6"/>
                </a:solidFill>
                <a:latin typeface="Arial"/>
              </a:rPr>
              <a:t>水面面积年际变化 </a:t>
            </a:r>
            <a:r>
              <a:rPr lang="en-US" altLang="ja-JP" sz="1100" b="0" i="0" u="none" strike="noStrike">
                <a:solidFill>
                  <a:srgbClr val="CCE5F6"/>
                </a:solidFill>
                <a:latin typeface="Arial"/>
              </a:rPr>
              <a:t>(</a:t>
            </a:r>
            <a:r>
              <a:rPr lang="en-AU" sz="1100" b="0" i="0" u="none" strike="noStrike">
                <a:solidFill>
                  <a:srgbClr val="CCE5F6"/>
                </a:solidFill>
                <a:latin typeface="Arial"/>
              </a:rPr>
              <a:t>km²)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水面面积 km²</c:v>
                </c:pt>
              </c:strCache>
            </c:strRef>
          </c:tx>
          <c:spPr>
            <a:solidFill>
              <a:srgbClr val="0078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17-1948-BB1C-C74E251D84DC}"/>
              </c:ext>
            </c:extLst>
          </c:dPt>
          <c:dPt>
            <c:idx val="1"/>
            <c:invertIfNegative val="0"/>
            <c:bubble3D val="0"/>
            <c:spPr>
              <a:solidFill>
                <a:srgbClr val="0091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17-1948-BB1C-C74E251D84DC}"/>
              </c:ext>
            </c:extLst>
          </c:dPt>
          <c:dPt>
            <c:idx val="2"/>
            <c:invertIfNegative val="0"/>
            <c:bubble3D val="0"/>
            <c:spPr>
              <a:solidFill>
                <a:srgbClr val="00A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17-1948-BB1C-C74E251D84DC}"/>
              </c:ext>
            </c:extLst>
          </c:dPt>
          <c:dPt>
            <c:idx val="3"/>
            <c:invertIfNegative val="0"/>
            <c:bubble3D val="0"/>
            <c:spPr>
              <a:solidFill>
                <a:srgbClr val="00C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17-1948-BB1C-C74E251D84DC}"/>
              </c:ext>
            </c:extLst>
          </c:dPt>
          <c:dPt>
            <c:idx val="4"/>
            <c:invertIfNegative val="0"/>
            <c:bubble3D val="0"/>
            <c:spPr>
              <a:solidFill>
                <a:srgbClr val="0091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17-1948-BB1C-C74E251D84DC}"/>
              </c:ext>
            </c:extLst>
          </c:dPt>
          <c:dPt>
            <c:idx val="5"/>
            <c:invertIfNegative val="0"/>
            <c:bubble3D val="0"/>
            <c:spPr>
              <a:solidFill>
                <a:srgbClr val="00C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17-1948-BB1C-C74E251D84DC}"/>
              </c:ext>
            </c:extLst>
          </c:dPt>
          <c:dPt>
            <c:idx val="6"/>
            <c:invertIfNegative val="0"/>
            <c:bubble3D val="0"/>
            <c:spPr>
              <a:solidFill>
                <a:srgbClr val="0091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17-1948-BB1C-C74E251D84DC}"/>
              </c:ext>
            </c:extLst>
          </c:dPt>
          <c:dPt>
            <c:idx val="7"/>
            <c:invertIfNegative val="0"/>
            <c:bubble3D val="0"/>
            <c:spPr>
              <a:solidFill>
                <a:srgbClr val="00C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717-1948-BB1C-C74E251D84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283</c:v>
                </c:pt>
                <c:pt idx="1">
                  <c:v>265.5</c:v>
                </c:pt>
                <c:pt idx="2">
                  <c:v>244.6</c:v>
                </c:pt>
                <c:pt idx="3">
                  <c:v>218.6</c:v>
                </c:pt>
                <c:pt idx="4">
                  <c:v>230</c:v>
                </c:pt>
                <c:pt idx="5">
                  <c:v>213.3</c:v>
                </c:pt>
                <c:pt idx="6">
                  <c:v>219.5</c:v>
                </c:pt>
                <c:pt idx="7">
                  <c:v>218.1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717-1948-BB1C-C74E251D8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  <c:min val="180"/>
        </c:scaling>
        <c:delete val="0"/>
        <c:axPos val="l"/>
        <c:majorGridlines>
          <c:spPr>
            <a:ln w="6350" cap="flat">
              <a:solidFill>
                <a:srgbClr val="1A33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E5F6"/>
                </a:solidFill>
                <a:latin typeface="Arial"/>
              </a:defRPr>
            </a:pPr>
            <a:r>
              <a:rPr lang="ja-JP" altLang="en-US" sz="1100" b="0" i="0" u="none" strike="noStrike">
                <a:solidFill>
                  <a:srgbClr val="CCE5F6"/>
                </a:solidFill>
                <a:latin typeface="Arial"/>
              </a:rPr>
              <a:t>跨境年径流估算（</a:t>
            </a:r>
            <a:r>
              <a:rPr lang="en-AU" sz="1100" b="0" i="0" u="none" strike="noStrike">
                <a:solidFill>
                  <a:srgbClr val="CCE5F6"/>
                </a:solidFill>
                <a:latin typeface="Arial"/>
              </a:rPr>
              <a:t>km³/yr）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萨雷扎兹→库玛力克 km³</c:v>
                </c:pt>
              </c:strCache>
            </c:strRef>
          </c:tx>
          <c:spPr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4.5</c:v>
                </c:pt>
                <c:pt idx="2">
                  <c:v>4.0999999999999996</c:v>
                </c:pt>
                <c:pt idx="3">
                  <c:v>3.9</c:v>
                </c:pt>
                <c:pt idx="4">
                  <c:v>4.2</c:v>
                </c:pt>
                <c:pt idx="5">
                  <c:v>3.8</c:v>
                </c:pt>
                <c:pt idx="6">
                  <c:v>3.6</c:v>
                </c:pt>
                <c:pt idx="7">
                  <c:v>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00D-6C45-9546-CB0B97A8E2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阿克苏总量 km³</c:v>
                </c:pt>
              </c:strCache>
            </c:strRef>
          </c:tx>
          <c:spPr>
            <a:ln w="31750" cap="flat">
              <a:solidFill>
                <a:srgbClr val="4196D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196DE"/>
              </a:solidFill>
              <a:ln w="9525" cap="flat">
                <a:solidFill>
                  <a:srgbClr val="4196D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8.1</c:v>
                </c:pt>
                <c:pt idx="1">
                  <c:v>8.4</c:v>
                </c:pt>
                <c:pt idx="2">
                  <c:v>7.8</c:v>
                </c:pt>
                <c:pt idx="3">
                  <c:v>7.4</c:v>
                </c:pt>
                <c:pt idx="4">
                  <c:v>7.9</c:v>
                </c:pt>
                <c:pt idx="5">
                  <c:v>7.1</c:v>
                </c:pt>
                <c:pt idx="6">
                  <c:v>6.9</c:v>
                </c:pt>
                <c:pt idx="7">
                  <c:v>6.7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00D-6C45-9546-CB0B97A8E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2"/>
        </c:scaling>
        <c:delete val="0"/>
        <c:axPos val="l"/>
        <c:majorGridlines>
          <c:spPr>
            <a:ln w="12700" cap="flat">
              <a:solidFill>
                <a:srgbClr val="1A33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CE5F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CE5F6"/>
                </a:solidFill>
                <a:latin typeface="Arial"/>
              </a:defRPr>
            </a:pP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流域气温距平 </a:t>
            </a:r>
            <a:r>
              <a:rPr lang="en-US" altLang="ja-JP" sz="1000" b="0" i="0" u="none" strike="noStrike">
                <a:solidFill>
                  <a:srgbClr val="CCE5F6"/>
                </a:solidFill>
                <a:latin typeface="Arial"/>
              </a:rPr>
              <a:t>°</a:t>
            </a:r>
            <a:r>
              <a:rPr lang="en-AU" sz="1000" b="0" i="0" u="none" strike="noStrike">
                <a:solidFill>
                  <a:srgbClr val="CCE5F6"/>
                </a:solidFill>
                <a:latin typeface="Arial"/>
              </a:rPr>
              <a:t>C（</a:t>
            </a: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相对</a:t>
            </a:r>
            <a:r>
              <a:rPr lang="en-US" altLang="ja-JP" sz="1000" b="0" i="0" u="none" strike="noStrike">
                <a:solidFill>
                  <a:srgbClr val="CCE5F6"/>
                </a:solidFill>
                <a:latin typeface="Arial"/>
              </a:rPr>
              <a:t>1981–2010</a:t>
            </a: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基准，</a:t>
            </a:r>
            <a:r>
              <a:rPr lang="en-AU" sz="1000" b="0" i="0" u="none" strike="noStrike">
                <a:solidFill>
                  <a:srgbClr val="CCE5F6"/>
                </a:solidFill>
                <a:latin typeface="Arial"/>
              </a:rPr>
              <a:t>ERA5</a:t>
            </a: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实测）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气温距平(ERA5) °C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</c:v>
                </c:pt>
                <c:pt idx="1">
                  <c:v>0.82</c:v>
                </c:pt>
                <c:pt idx="2">
                  <c:v>0.34</c:v>
                </c:pt>
                <c:pt idx="3">
                  <c:v>0.71</c:v>
                </c:pt>
                <c:pt idx="4">
                  <c:v>1.36</c:v>
                </c:pt>
                <c:pt idx="5">
                  <c:v>1.53</c:v>
                </c:pt>
                <c:pt idx="6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A-A64A-BDA5-7200E935D6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1A33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394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E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CE5F6"/>
                </a:solidFill>
                <a:latin typeface="Arial"/>
              </a:defRPr>
            </a:pP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流域降水距平 </a:t>
            </a:r>
            <a:r>
              <a:rPr lang="en-US" altLang="ja-JP" sz="1000" b="0" i="0" u="none" strike="noStrike">
                <a:solidFill>
                  <a:srgbClr val="CCE5F6"/>
                </a:solidFill>
                <a:latin typeface="Arial"/>
              </a:rPr>
              <a:t>%</a:t>
            </a: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（</a:t>
            </a:r>
            <a:r>
              <a:rPr lang="en-AU" sz="1000" b="0" i="0" u="none" strike="noStrike">
                <a:solidFill>
                  <a:srgbClr val="CCE5F6"/>
                </a:solidFill>
                <a:latin typeface="Arial"/>
              </a:rPr>
              <a:t>GPCP</a:t>
            </a:r>
            <a:r>
              <a:rPr lang="ja-JP" altLang="en-US" sz="1000" b="0" i="0" u="none" strike="noStrike">
                <a:solidFill>
                  <a:srgbClr val="CCE5F6"/>
                </a:solidFill>
                <a:latin typeface="Arial"/>
              </a:rPr>
              <a:t>实测）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降水距平(GPCP) %</c:v>
                </c:pt>
              </c:strCache>
            </c:strRef>
          </c:tx>
          <c:spPr>
            <a:solidFill>
              <a:srgbClr val="4196DE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-0.4</c:v>
                </c:pt>
                <c:pt idx="1">
                  <c:v>-1.6</c:v>
                </c:pt>
                <c:pt idx="2">
                  <c:v>-2.2999999999999998</c:v>
                </c:pt>
                <c:pt idx="3">
                  <c:v>-15</c:v>
                </c:pt>
                <c:pt idx="4">
                  <c:v>17.2</c:v>
                </c:pt>
                <c:pt idx="5">
                  <c:v>-20.100000000000001</c:v>
                </c:pt>
                <c:pt idx="6">
                  <c:v>8.1</c:v>
                </c:pt>
                <c:pt idx="7">
                  <c:v>-17.600000000000001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3-444F-9AC8-A386DF95C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3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196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3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99DC8-0B78-03F3-A519-56FC4B1D47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413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7121C"/>
          </a:solidFill>
          <a:ln w="12700">
            <a:solidFill>
              <a:srgbClr val="0712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2743200"/>
            <a:ext cx="8229600" cy="8229600"/>
          </a:xfrm>
          <a:prstGeom prst="ellipse">
            <a:avLst/>
          </a:prstGeom>
          <a:solidFill>
            <a:srgbClr val="00C8F0">
              <a:alpha val="15000"/>
            </a:srgbClr>
          </a:solidFill>
          <a:ln w="635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-1828800"/>
            <a:ext cx="6400800" cy="6400800"/>
          </a:xfrm>
          <a:prstGeom prst="ellipse">
            <a:avLst/>
          </a:prstGeom>
          <a:solidFill>
            <a:srgbClr val="00C8F0">
              <a:alpha val="12000"/>
            </a:srgbClr>
          </a:solidFill>
          <a:ln w="635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-914400"/>
            <a:ext cx="4572000" cy="4572000"/>
          </a:xfrm>
          <a:prstGeom prst="ellipse">
            <a:avLst/>
          </a:prstGeom>
          <a:solidFill>
            <a:srgbClr val="00C8F0">
              <a:alpha val="10000"/>
            </a:srgbClr>
          </a:solidFill>
          <a:ln w="635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0" y="0"/>
            <a:ext cx="2743200" cy="2743200"/>
          </a:xfrm>
          <a:prstGeom prst="ellipse">
            <a:avLst/>
          </a:prstGeom>
          <a:solidFill>
            <a:srgbClr val="00C8F0">
              <a:alpha val="8000"/>
            </a:srgbClr>
          </a:solidFill>
          <a:ln w="635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中亚跨境水资源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综合分析平台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Central Asia Transboundary Water Resources Integrated Analysis Platform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731520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737360" cy="347472"/>
          </a:xfrm>
          <a:prstGeom prst="rect">
            <a:avLst/>
          </a:prstGeom>
          <a:solidFill>
            <a:srgbClr val="00C8F0">
              <a:alpha val="15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F0"/>
                </a:solidFill>
              </a:rPr>
              <a:t>Sentinel-2 卫星遥感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3794760"/>
            <a:ext cx="1737360" cy="347472"/>
          </a:xfrm>
          <a:prstGeom prst="rect">
            <a:avLst/>
          </a:prstGeom>
          <a:solidFill>
            <a:srgbClr val="4196DE">
              <a:alpha val="15000"/>
            </a:srgbClr>
          </a:solidFill>
          <a:ln w="635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196DE"/>
                </a:solidFill>
              </a:rPr>
              <a:t>ERA5 气候实测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3794760"/>
            <a:ext cx="1737360" cy="347472"/>
          </a:xfrm>
          <a:prstGeom prst="rect">
            <a:avLst/>
          </a:prstGeom>
          <a:solidFill>
            <a:srgbClr val="2DC653">
              <a:alpha val="15000"/>
            </a:srgbClr>
          </a:solidFill>
          <a:ln w="63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</a:rPr>
              <a:t>GPCP 降水数据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1737360" cy="34747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</a:rPr>
              <a:t>跨境流量估算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AAA"/>
                </a:solidFill>
              </a:rPr>
              <a:t>水利部水资源研究 · 吉尔吉斯斯坦水资源分析专项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AAA"/>
                </a:solidFill>
              </a:rPr>
              <a:t>数据覆盖：2018 — 2025 · 气候序列：1979 — 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AA"/>
                </a:solidFill>
              </a:rPr>
              <a:t>2026年6月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为什么要做这个项目？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657600" cy="22860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54864" cy="2286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36245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战略意义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709928"/>
            <a:ext cx="3429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吉尔吉斯斯坦是中亚水塔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境内河流向四邻辐射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萨雷扎兹河→新疆阿克苏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是塔里木盆地主要水源之一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51960" y="1234440"/>
            <a:ext cx="3657600" cy="22860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51960" y="1234440"/>
            <a:ext cx="54864" cy="2286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0" y="136245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问题信号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709928"/>
            <a:ext cx="3429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托克托古尔水面2018→2025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缩减 -23%（-65 km²）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年入库水量整体下滑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极端旱年（2021、2023）频发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138160" y="1234440"/>
            <a:ext cx="3657600" cy="22860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1234440"/>
            <a:ext cx="54864" cy="2286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75320" y="136245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7532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🏛️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决策需求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1709928"/>
            <a:ext cx="3429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水利部需要量化跨境水量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年际变化原因不明确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需要区分气候驱动 vs 人为影响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为跨境协商提供数据支撑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11430000" cy="265176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54864" cy="2651760"/>
          </a:xfrm>
          <a:prstGeom prst="rect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研究区域：吉尔吉斯斯坦 → 中国新疆 跨境水资源链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133088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🏔️  源头：</a:t>
            </a:r>
            <a:r>
              <a:rPr lang="en-US" sz="2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天山冰川与高山积雪（吉尔吉斯斯坦境内）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🌊  主通道：</a:t>
            </a:r>
            <a:r>
              <a:rPr lang="en-US" sz="2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萨雷扎兹河（Sary-Jaz）→ 进入中国后称 库玛力克河 → 汇入 阿克苏河 → 塔里木河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419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💧  规模：</a:t>
            </a:r>
            <a:r>
              <a:rPr lang="en-US" sz="2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阿克苏河年径流约 7–8 km³，占塔里木河补给量约 40%，是南疆农业的生命线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趋势：</a:t>
            </a:r>
            <a:r>
              <a:rPr lang="en-US" sz="2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2018→2025 萨雷扎兹入境水量下降约 18.6%，原因待归因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数据体系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E5F6"/>
                </a:solidFill>
              </a:rPr>
              <a:t>多源数据融合 · 构建立体水文监测体系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66928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🛰️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2710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Sentinel-2 / Google Dynamic World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618488"/>
            <a:ext cx="54406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8年年度土地覆被合成图（2018–2025）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 分辨率 · 1波段字节型分类影像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水体类（Class 1）→ 矢量化水面边界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提供：水面面积 · 库容估算 · 年际变化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143000"/>
            <a:ext cx="566928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🌡️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12710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ERA5 再分析数据（Copernicus）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618488"/>
            <a:ext cx="54406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月均2m气温（1979–2024，45年）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68–82°E / 38–45°N 区域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0.25°分辨率 · 552个时间步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提供：升温趋势 · 年际气温距平 · 格点叠加层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566928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0142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🌧️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0142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GPCP v2.3（NOAA PSL）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361688"/>
            <a:ext cx="54406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月均降水量（1979–2026，47年）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2.5°分辨率格点数据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无需API认证 · 直接HTTP下载（19 MB）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提供：降水趋势 · 年际异常 · 与径流对比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3886200"/>
            <a:ext cx="566928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09360" y="38862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40142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🗺️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0142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OpenStreetMap（Geofabrik）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361688"/>
            <a:ext cx="54406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吉尔吉斯斯坦全境矢量数据（49 MB PBF）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8条主干河流中心线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水库/湖泊面要素（natural=water过滤）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提供：河流网络 · 水体边界 · 大坝位置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三大分析方向（领导指示）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E5F6"/>
                </a:solidFill>
              </a:rPr>
              <a:t>围绕跨境水量的完整分析框架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3749040" cy="5212080"/>
          </a:xfrm>
          <a:prstGeom prst="rect">
            <a:avLst/>
          </a:prstGeom>
          <a:solidFill>
            <a:srgbClr val="0D1E2E"/>
          </a:solidFill>
          <a:ln w="9525">
            <a:solidFill>
              <a:srgbClr val="00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3749040" cy="7315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594360" cy="5943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跨境水量估算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8F0"/>
                </a:solidFill>
              </a:rPr>
              <a:t>新疆是下游，关注每年流入量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474720" cy="0"/>
          </a:xfrm>
          <a:prstGeom prst="line">
            <a:avLst/>
          </a:prstGeom>
          <a:noFill/>
          <a:ln w="635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托克托古尔年入库水量（Sentinel-2推算）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萨雷扎兹→库玛力克→阿克苏 年径流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阿克苏河总入境水量（</a:t>
            </a: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文献综合</a:t>
            </a: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年际变化趋势与历史均值对比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5989320"/>
            <a:ext cx="3566160" cy="274320"/>
          </a:xfrm>
          <a:prstGeom prst="rect">
            <a:avLst/>
          </a:prstGeom>
          <a:solidFill>
            <a:srgbClr val="00C8F0">
              <a:alpha val="15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F0"/>
                </a:solidFill>
              </a:rPr>
              <a:t>✓ 均值入库 10.4 km³/yr · 入境 ~3.9 km³/yr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79392" y="1143000"/>
            <a:ext cx="3749040" cy="5212080"/>
          </a:xfrm>
          <a:prstGeom prst="rect">
            <a:avLst/>
          </a:prstGeom>
          <a:solidFill>
            <a:srgbClr val="0D1E2E"/>
          </a:solidFill>
          <a:ln w="9525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79392" y="1143000"/>
            <a:ext cx="37490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16552" y="1261872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165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02352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成因归因分析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35"/>
                </a:solidFill>
              </a:rPr>
              <a:t>如果减少，要回溯原因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6552" y="2148840"/>
            <a:ext cx="3474720" cy="0"/>
          </a:xfrm>
          <a:prstGeom prst="line">
            <a:avLst/>
          </a:prstGeom>
          <a:noFill/>
          <a:ln w="635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16552" y="22402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ERA5 气温趋势（+0.308°C/十年）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GPCP 降水趋势（近乎持平）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冰川面积年际变化（~-380 km²）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上游水利工程（OSM大坝位置）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70832" y="5989320"/>
            <a:ext cx="3566160" cy="274320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70832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</a:rPr>
              <a:t>✓ 长期下降：气候变暖主导；年际波动：降水主导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38744" y="1143000"/>
            <a:ext cx="3749040" cy="5212080"/>
          </a:xfrm>
          <a:prstGeom prst="rect">
            <a:avLst/>
          </a:prstGeom>
          <a:solidFill>
            <a:srgbClr val="0D1E2E"/>
          </a:solidFill>
          <a:ln w="9525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38744" y="1143000"/>
            <a:ext cx="374904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75904" y="1261872"/>
            <a:ext cx="594360" cy="5943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75904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1704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中亚水资源支援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75904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C653"/>
                </a:solidFill>
              </a:rPr>
              <a:t>围绕全流域做水量预测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75904" y="2148840"/>
            <a:ext cx="3474720" cy="0"/>
          </a:xfrm>
          <a:prstGeom prst="line">
            <a:avLst/>
          </a:prstGeom>
          <a:noFill/>
          <a:ln w="635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75904" y="22402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纳伦河全流域（→ 锡尔河 → 咸海）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楚河、塔拉斯河（→ 哈萨克斯坦）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伊塞克湖、松库尔湖水量监测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托克托古尔调度对下游的影响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30184" y="5989320"/>
            <a:ext cx="3566160" cy="274320"/>
          </a:xfrm>
          <a:prstGeom prst="rect">
            <a:avLst/>
          </a:prstGeom>
          <a:solidFill>
            <a:srgbClr val="2DC653">
              <a:alpha val="15000"/>
            </a:srgbClr>
          </a:solidFill>
          <a:ln w="63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30184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C653"/>
                </a:solidFill>
              </a:rPr>
              <a:t>✓ 框架已建立 · 待Amu Darya数据扩展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托克托古尔水库 · 8年卫星遥感监测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658368"/>
            <a:ext cx="1371600" cy="1389888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658368"/>
            <a:ext cx="1371600" cy="45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795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0040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2018年水面面积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658368"/>
            <a:ext cx="1371600" cy="1389888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658368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795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828800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73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2025年水面面积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658368"/>
            <a:ext cx="1371600" cy="1389888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7560" y="658368"/>
            <a:ext cx="13716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795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337560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773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水面净缩减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658368"/>
            <a:ext cx="1371600" cy="1389888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658368"/>
            <a:ext cx="1371600" cy="45720"/>
          </a:xfrm>
          <a:prstGeom prst="rect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795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19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846320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773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2025年蓄水量</a:t>
            </a:r>
            <a:endParaRPr lang="en-US" sz="10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20040" y="2148840"/>
          <a:ext cx="59436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6583680" y="658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0"/>
                </a:solidFill>
              </a:rPr>
              <a:t>逐年监测数据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192775"/>
              </p:ext>
            </p:extLst>
          </p:nvPr>
        </p:nvGraphicFramePr>
        <p:xfrm>
          <a:off x="6583680" y="1051560"/>
          <a:ext cx="5349240" cy="53035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C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C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水面面积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C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蓄水量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C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利用率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C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估算入库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283.0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19.41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C65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99.4%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10.36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265.5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17.86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C65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88.4%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10.52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244.6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16.09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9.69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 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218.6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14.02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8.66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230.0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14.92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67.5%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C65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12.12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 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213.3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13.62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9.72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219.5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14.09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61.6%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11.29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218.1 km²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13.98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CE5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10.51 km³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水量估算方法体系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0"/>
                </a:solidFill>
              </a:rPr>
              <a:t>核心方法：水量平衡法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5669280" cy="1371600"/>
          </a:xfrm>
          <a:prstGeom prst="rect">
            <a:avLst/>
          </a:prstGeom>
          <a:solidFill>
            <a:srgbClr val="0A1F2E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V入库  =  ΔV  +  V出库  +  V蒸发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ΔV = 年末蓄水 − 年初蓄水（Sentinel-2推算）</a:t>
            </a:r>
            <a:endParaRPr lang="en-US" sz="3200" dirty="0"/>
          </a:p>
          <a:p>
            <a:pPr marL="0" indent="0">
              <a:buNone/>
            </a:pPr>
            <a:r>
              <a:rPr lang="en-US" sz="12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V出库 ≈ 10.4–12.1 km³/yr（发电+灌溉，文献）</a:t>
            </a:r>
            <a:endParaRPr lang="en-US" sz="3200" dirty="0"/>
          </a:p>
          <a:p>
            <a:pPr marL="0" indent="0">
              <a:buNone/>
            </a:pPr>
            <a:r>
              <a:rPr lang="en-US" sz="12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V蒸发 ≈ 均值水面 × 1 m/yr 蒸发深度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面积→库容 转换曲线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669280" cy="18288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参数设定（基于水电站设计文件）：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全库容 = 19.5 km³  ·  死库容 = 5.4 km³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满水面积 = 284 km²  ·  死水面积 = 50 km²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水位估算：820 m（死水位）→ 902 m（正常水位）线性内插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精度估计：±15%（出库不确定性主导）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0" y="685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跨境流量估算（萨雷扎兹河）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1143000"/>
            <a:ext cx="5486400" cy="22860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143000"/>
            <a:ext cx="54864" cy="2286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3796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1271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文献综合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618488"/>
            <a:ext cx="5257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Chen et al. (2016) J Hydrology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Xu et al. (2004) Hydrological Sciences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中国阿克苏水文站长序列均值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不确定度 ±20%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611880"/>
            <a:ext cx="5486400" cy="22860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611880"/>
            <a:ext cx="54864" cy="2286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373989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739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水量代理（内部验证）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5257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托克托古尔入库去气温冰川项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残差代表降水主导分量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与GPCP实测异常年份高度吻合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2021: 代理-16.2% vs GPCP-15.0%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6144768"/>
            <a:ext cx="5486400" cy="411480"/>
          </a:xfrm>
          <a:prstGeom prst="rect">
            <a:avLst/>
          </a:prstGeom>
          <a:solidFill>
            <a:srgbClr val="1A100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61722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⚠ 所有估算值均附有不确定度区间。建议配合实测流量站数据（GRDC）进一步校正。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跨境水量 · 流入中国新疆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103120" cy="13716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58368"/>
            <a:ext cx="210312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95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~3.9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km³/yr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萨雷扎兹年均入境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658368"/>
            <a:ext cx="2103120" cy="13716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0" y="658368"/>
            <a:ext cx="2103120" cy="45720"/>
          </a:xfrm>
          <a:prstGeom prst="rect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795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19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~7.7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5603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km³/yr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阿克苏总入境（均）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658368"/>
            <a:ext cx="2103120" cy="13716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658368"/>
            <a:ext cx="21031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795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-18.6%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8463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2018→2025降幅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658368"/>
            <a:ext cx="2103120" cy="13716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0" y="658368"/>
            <a:ext cx="2103120" cy="45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0" y="795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1323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阿克苏→塔里木贡献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8320" y="658368"/>
            <a:ext cx="2468880" cy="137160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18320" y="658368"/>
            <a:ext cx="2468880" cy="45720"/>
          </a:xfrm>
          <a:prstGeom prst="rect">
            <a:avLst/>
          </a:prstGeom>
          <a:solidFill>
            <a:srgbClr val="5A8AAA"/>
          </a:solidFill>
          <a:ln w="12700">
            <a:solidFill>
              <a:srgbClr val="5A8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18320" y="7955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±20%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41832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估算不确定度</a:t>
            </a:r>
            <a:endParaRPr lang="en-US" sz="10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320040" y="2176272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 31"/>
          <p:cNvSpPr/>
          <p:nvPr/>
        </p:nvSpPr>
        <p:spPr>
          <a:xfrm>
            <a:off x="7406640" y="2176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0"/>
                </a:solidFill>
              </a:rPr>
              <a:t>战略地位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406640" y="2606040"/>
            <a:ext cx="4480560" cy="141732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406640" y="2606040"/>
            <a:ext cx="54864" cy="14173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543800" y="273405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5438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🌾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001000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农业命脉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43800" y="3081528"/>
            <a:ext cx="4251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阿克苏河是南疆绿洲农业主要水源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灌溉面积超过 200 万亩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水量减少直接影响棉花、粮食产量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406640" y="4160520"/>
            <a:ext cx="4480560" cy="141732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406640" y="4160520"/>
            <a:ext cx="54864" cy="14173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543800" y="428853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54380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🏔️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001000" y="4288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冰川依赖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543800" y="4636008"/>
            <a:ext cx="4251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萨雷扎兹流域冰川融水占40–55%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冰川退缩→短期增水→长期减水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当前处于冰川融化红利 尾声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406640" y="5715000"/>
            <a:ext cx="4480560" cy="141732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7406640" y="5715000"/>
            <a:ext cx="54864" cy="14173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543800" y="5843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543800" y="5843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⚖️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8001000" y="5843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跨境协议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7543800" y="6190488"/>
            <a:ext cx="4251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中吉两国无正式水量分配条约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年际大幅波动加大谈判难度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数据透明化是外交谈判基础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气候驱动因子分析 · ERA5 + GPCP 双实测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658368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320040" y="4681728"/>
          <a:ext cx="68580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7406640" y="658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0"/>
                </a:solidFill>
              </a:rPr>
              <a:t>归因分析结论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06640" y="1097280"/>
            <a:ext cx="4480560" cy="17830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406640" y="1097280"/>
            <a:ext cx="54864" cy="17830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543800" y="122529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📈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01000" y="1225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气温：持续上升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43800" y="1572768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+0.308°C / 十年（45年实测）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1979→2024 总升温 +1.42°C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近年（2022–2023）异常偏高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为冰川加速融化的主要驱动力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406640" y="3017520"/>
            <a:ext cx="4480560" cy="17830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406640" y="3017520"/>
            <a:ext cx="54864" cy="17830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543800" y="314553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5438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💧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00100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降水：年际振荡，无趋势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543800" y="3493008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+0.5 mm/十年（统计不显著）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年际波动剧烈：-20%～+17%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2021、2023年显著干旱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不是长期水量减少的主因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406640" y="4937760"/>
            <a:ext cx="4480560" cy="17830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406640" y="4937760"/>
            <a:ext cx="54864" cy="17830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543800" y="506577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54380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0"/>
                </a:solidFill>
              </a:rPr>
              <a:t>🧊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001000" y="5065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冰川：加速消退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543800" y="5413248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2018–2025 面积减少约380 km²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短期融水红利→长期枯水风险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天山北麓贡献峰值已过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萨雷扎兹依赖度40–55%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406640" y="6080760"/>
            <a:ext cx="4480560" cy="594360"/>
          </a:xfrm>
          <a:prstGeom prst="rect">
            <a:avLst/>
          </a:prstGeom>
          <a:solidFill>
            <a:srgbClr val="1A0A00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498080" y="6108192"/>
            <a:ext cx="4297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</a:t>
            </a:r>
            <a:r>
              <a:rPr lang="en-US" sz="11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水量减少主因是升温（长期），而非降水减少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核心科学结论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635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11430000" cy="1691640"/>
          </a:xfrm>
          <a:prstGeom prst="rect">
            <a:avLst/>
          </a:prstGeom>
          <a:solidFill>
            <a:srgbClr val="0D1E2E"/>
          </a:solidFill>
          <a:ln w="9525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64008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0058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气温驱动的结构性衰减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138988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ERA5 实测：流域气温以 +0.308°C/十年 速率持续升高，1979→2024 总升温 +1.42°C。这是水量长期减少的根本原因——加速冰川消耗，非年际现象。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732520" y="1051560"/>
            <a:ext cx="2926080" cy="438912"/>
          </a:xfrm>
          <a:prstGeom prst="rect">
            <a:avLst/>
          </a:prstGeom>
          <a:solidFill>
            <a:srgbClr val="E63946">
              <a:alpha val="20000"/>
            </a:srgbClr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32520" y="1051560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</a:rPr>
              <a:t>+0.308°C/十年  (45年实测)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11430000" cy="1691640"/>
          </a:xfrm>
          <a:prstGeom prst="rect">
            <a:avLst/>
          </a:prstGeom>
          <a:solidFill>
            <a:srgbClr val="0D1E2E"/>
          </a:solidFill>
          <a:ln w="9525">
            <a:solidFill>
              <a:srgbClr val="419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64008" cy="1691640"/>
          </a:xfrm>
          <a:prstGeom prst="rect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880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降水决定年际涨落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6440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GPCP 实测：47年降水趋势近乎持平（+0.5 mm/十年，统计不显著）。2021年（-15%）和2023年（-20%）的极低蓄水，均由降水异常偏少主导。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732520" y="2926080"/>
            <a:ext cx="2926080" cy="438912"/>
          </a:xfrm>
          <a:prstGeom prst="rect">
            <a:avLst/>
          </a:prstGeom>
          <a:solidFill>
            <a:srgbClr val="4196DE">
              <a:alpha val="20000"/>
            </a:srgbClr>
          </a:solidFill>
          <a:ln w="635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32520" y="2926080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196DE"/>
                </a:solidFill>
              </a:rPr>
              <a:t>趋势持平 · 年际波动±15–20%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11430000" cy="1691640"/>
          </a:xfrm>
          <a:prstGeom prst="rect">
            <a:avLst/>
          </a:prstGeom>
          <a:solidFill>
            <a:srgbClr val="0D1E2E"/>
          </a:solidFill>
          <a:ln w="9525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754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冰川融水红利临近尾声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513892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短期升温加速冰川融化产生额外补水，掩盖了真实衰减信号。随着冰川面积持续减少，未来萨雷扎兹→新疆的入境水量将进一步减少且更难预测。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732520" y="4800600"/>
            <a:ext cx="2926080" cy="438912"/>
          </a:xfrm>
          <a:prstGeom prst="rect">
            <a:avLst/>
          </a:prstGeom>
          <a:solidFill>
            <a:srgbClr val="FF6B35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32520" y="4800600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</a:rPr>
              <a:t>流域冰川 2018–2025 减少约 380 km²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6217920"/>
            <a:ext cx="11430000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62362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政策建议：应对策略需区分【降水异常】（短期应急储水）与【升温冰川衰退】（长期结构性适应）两类风险。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综合分析平台功能介绍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E5F6"/>
                </a:solidFill>
              </a:rPr>
              <a:t>integrated_map.html  —  单文件可离线使用（312 KB）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" name="Shape 9"/>
          <p:cNvSpPr/>
          <p:nvPr/>
        </p:nvSpPr>
        <p:spPr>
          <a:xfrm>
            <a:off x="45720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45720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🗺️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1271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ESRI卫星底图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6184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真实卫星影像为地图底图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地名标注（免费·无需Key）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三视角快速切换：全域/水库/萨雷扎兹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1430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Shape 15"/>
          <p:cNvSpPr/>
          <p:nvPr/>
        </p:nvSpPr>
        <p:spPr>
          <a:xfrm>
            <a:off x="443484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443484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92040" y="1271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年份滑块+自动播放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34840" y="16184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2018–2025 逐年切换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自动播放动画（1.2秒/帧）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地图所有图层联动更新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11430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2" name="Shape 20"/>
          <p:cNvSpPr/>
          <p:nvPr/>
        </p:nvSpPr>
        <p:spPr>
          <a:xfrm>
            <a:off x="8275320" y="11430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3" name="Shape 21"/>
          <p:cNvSpPr/>
          <p:nvPr/>
        </p:nvSpPr>
        <p:spPr>
          <a:xfrm>
            <a:off x="8412480" y="12710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4" name="Text 22"/>
          <p:cNvSpPr/>
          <p:nvPr/>
        </p:nvSpPr>
        <p:spPr>
          <a:xfrm>
            <a:off x="841248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869680" y="1271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矢量化水体边界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16184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Sentinel-2实测水面轮廓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托克托古尔/伊塞克湖/松库尔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点击弹窗显示面积、蓄水量、利用率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8862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9" name="Shape 27"/>
          <p:cNvSpPr/>
          <p:nvPr/>
        </p:nvSpPr>
        <p:spPr>
          <a:xfrm>
            <a:off x="457200" y="40142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4572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🌡️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4400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ERA5气温格点叠加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43616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1,653个格点实测气温距平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可开关叠加层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暖色=升温显著，冷色=偏凉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97680" y="38862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34" name="Shape 32"/>
          <p:cNvSpPr/>
          <p:nvPr/>
        </p:nvSpPr>
        <p:spPr>
          <a:xfrm>
            <a:off x="4297680" y="38862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5" name="Shape 33"/>
          <p:cNvSpPr/>
          <p:nvPr/>
        </p:nvSpPr>
        <p:spPr>
          <a:xfrm>
            <a:off x="4434840" y="40142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34"/>
          <p:cNvSpPr/>
          <p:nvPr/>
        </p:nvSpPr>
        <p:spPr>
          <a:xfrm>
            <a:off x="44348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📊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892040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可拖拽底部图表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434840" y="43616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入库水量/跨境流量/阿克苏/气候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上下拖拽调整图表区高度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左右滑动查看所有图表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75320" y="3886200"/>
            <a:ext cx="3794760" cy="2468880"/>
          </a:xfrm>
          <a:prstGeom prst="rect">
            <a:avLst/>
          </a:prstGeom>
          <a:solidFill>
            <a:srgbClr val="0D1E2E"/>
          </a:solidFill>
          <a:ln w="9525">
            <a:solidFill>
              <a:srgbClr val="1A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40" name="Shape 38"/>
          <p:cNvSpPr/>
          <p:nvPr/>
        </p:nvSpPr>
        <p:spPr>
          <a:xfrm>
            <a:off x="8275320" y="3886200"/>
            <a:ext cx="54864" cy="24688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1" name="Shape 39"/>
          <p:cNvSpPr/>
          <p:nvPr/>
        </p:nvSpPr>
        <p:spPr>
          <a:xfrm>
            <a:off x="8412480" y="4014216"/>
            <a:ext cx="365760" cy="365760"/>
          </a:xfrm>
          <a:prstGeom prst="ellipse">
            <a:avLst/>
          </a:prstGeom>
          <a:solidFill>
            <a:srgbClr val="00C8F0">
              <a:alpha val="20000"/>
            </a:srgbClr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84124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8F0"/>
                </a:solidFill>
              </a:rPr>
              <a:t>🔍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869680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智能归因诊断面板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412480" y="43616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选年份→自动判断主要驱动因子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干旱/暖干/冰川峰值等5种分类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ERA5实测+GPCP实测联合判断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1827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C8F0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技术架构与数据流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" y="54864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658368"/>
            <a:ext cx="3794760" cy="457200"/>
          </a:xfrm>
          <a:prstGeom prst="rect">
            <a:avLst/>
          </a:prstGeom>
          <a:solidFill>
            <a:srgbClr val="4196DE"/>
          </a:solidFill>
          <a:ln w="1270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数据采集层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Sentinel-2 GDW TIF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43T/44T 两景合并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14800" y="1737360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4" name="Shape 12"/>
          <p:cNvSpPr/>
          <p:nvPr/>
        </p:nvSpPr>
        <p:spPr>
          <a:xfrm>
            <a:off x="2212848" y="2331720"/>
            <a:ext cx="0" cy="164592"/>
          </a:xfrm>
          <a:prstGeom prst="line">
            <a:avLst/>
          </a:prstGeom>
          <a:noFill/>
          <a:ln w="9525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6" name="Text 14"/>
          <p:cNvSpPr/>
          <p:nvPr/>
        </p:nvSpPr>
        <p:spPr>
          <a:xfrm>
            <a:off x="411480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OSM PBF 矢量数据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" y="28986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吉尔吉斯斯坦 49MB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114800" y="3035808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9" name="Shape 17"/>
          <p:cNvSpPr/>
          <p:nvPr/>
        </p:nvSpPr>
        <p:spPr>
          <a:xfrm>
            <a:off x="2212848" y="3630168"/>
            <a:ext cx="0" cy="164592"/>
          </a:xfrm>
          <a:prstGeom prst="line">
            <a:avLst/>
          </a:prstGeom>
          <a:noFill/>
          <a:ln w="9525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1" name="Text 19"/>
          <p:cNvSpPr/>
          <p:nvPr/>
        </p:nvSpPr>
        <p:spPr>
          <a:xfrm>
            <a:off x="411480" y="3831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ERA5 NetCDF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11480" y="41970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气温 1979–2024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14800" y="4334256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4" name="Shape 22"/>
          <p:cNvSpPr/>
          <p:nvPr/>
        </p:nvSpPr>
        <p:spPr>
          <a:xfrm>
            <a:off x="2212848" y="4928616"/>
            <a:ext cx="0" cy="164592"/>
          </a:xfrm>
          <a:prstGeom prst="line">
            <a:avLst/>
          </a:prstGeom>
          <a:noFill/>
          <a:ln w="9525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Shape 23"/>
          <p:cNvSpPr/>
          <p:nvPr/>
        </p:nvSpPr>
        <p:spPr>
          <a:xfrm>
            <a:off x="320040" y="5038344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6" name="Text 24"/>
          <p:cNvSpPr/>
          <p:nvPr/>
        </p:nvSpPr>
        <p:spPr>
          <a:xfrm>
            <a:off x="411480" y="5129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GPCP NetCDF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" y="54955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降水 1979–2026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114800" y="5632704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Shape 27"/>
          <p:cNvSpPr/>
          <p:nvPr/>
        </p:nvSpPr>
        <p:spPr>
          <a:xfrm>
            <a:off x="4297680" y="658368"/>
            <a:ext cx="3794760" cy="457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" name="Text 28"/>
          <p:cNvSpPr/>
          <p:nvPr/>
        </p:nvSpPr>
        <p:spPr>
          <a:xfrm>
            <a:off x="4297680" y="6583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处理分析层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297680" y="1143000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2" name="Text 30"/>
          <p:cNvSpPr/>
          <p:nvPr/>
        </p:nvSpPr>
        <p:spPr>
          <a:xfrm>
            <a:off x="438912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gdal.Warp 裁剪+投影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38912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EPSG:32643→WGS84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8092440" y="1737360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Shape 33"/>
          <p:cNvSpPr/>
          <p:nvPr/>
        </p:nvSpPr>
        <p:spPr>
          <a:xfrm>
            <a:off x="6190488" y="2331720"/>
            <a:ext cx="0" cy="164592"/>
          </a:xfrm>
          <a:prstGeom prst="line">
            <a:avLst/>
          </a:prstGeom>
          <a:noFill/>
          <a:ln w="9525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6" name="Shape 34"/>
          <p:cNvSpPr/>
          <p:nvPr/>
        </p:nvSpPr>
        <p:spPr>
          <a:xfrm>
            <a:off x="4297680" y="2441448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7" name="Text 35"/>
          <p:cNvSpPr/>
          <p:nvPr/>
        </p:nvSpPr>
        <p:spPr>
          <a:xfrm>
            <a:off x="4389120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gdal.Polygonize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89120" y="28986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栅格→矢量+简化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092440" y="3035808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0" name="Shape 38"/>
          <p:cNvSpPr/>
          <p:nvPr/>
        </p:nvSpPr>
        <p:spPr>
          <a:xfrm>
            <a:off x="6190488" y="3630168"/>
            <a:ext cx="0" cy="164592"/>
          </a:xfrm>
          <a:prstGeom prst="line">
            <a:avLst/>
          </a:prstGeom>
          <a:noFill/>
          <a:ln w="9525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1" name="Shape 39"/>
          <p:cNvSpPr/>
          <p:nvPr/>
        </p:nvSpPr>
        <p:spPr>
          <a:xfrm>
            <a:off x="4297680" y="3739896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2" name="Text 40"/>
          <p:cNvSpPr/>
          <p:nvPr/>
        </p:nvSpPr>
        <p:spPr>
          <a:xfrm>
            <a:off x="4389120" y="3831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流域均值计算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389120" y="41970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趋势+距平分析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8092440" y="4334256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5" name="Shape 43"/>
          <p:cNvSpPr/>
          <p:nvPr/>
        </p:nvSpPr>
        <p:spPr>
          <a:xfrm>
            <a:off x="6190488" y="4928616"/>
            <a:ext cx="0" cy="164592"/>
          </a:xfrm>
          <a:prstGeom prst="line">
            <a:avLst/>
          </a:prstGeom>
          <a:noFill/>
          <a:ln w="9525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6" name="Shape 44"/>
          <p:cNvSpPr/>
          <p:nvPr/>
        </p:nvSpPr>
        <p:spPr>
          <a:xfrm>
            <a:off x="4297680" y="5038344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0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7" name="Text 45"/>
          <p:cNvSpPr/>
          <p:nvPr/>
        </p:nvSpPr>
        <p:spPr>
          <a:xfrm>
            <a:off x="4389120" y="5129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水量平衡推算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4389120" y="54955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V入库=ΔV+V出+V蒸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8092440" y="5632704"/>
            <a:ext cx="32004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0" name="Shape 48"/>
          <p:cNvSpPr/>
          <p:nvPr/>
        </p:nvSpPr>
        <p:spPr>
          <a:xfrm>
            <a:off x="8275320" y="658368"/>
            <a:ext cx="3794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1" name="Text 49"/>
          <p:cNvSpPr/>
          <p:nvPr/>
        </p:nvSpPr>
        <p:spPr>
          <a:xfrm>
            <a:off x="8275320" y="6583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可视化输出层</a:t>
            </a:r>
            <a:endParaRPr lang="en-US" sz="2800" dirty="0"/>
          </a:p>
        </p:txBody>
      </p:sp>
      <p:sp>
        <p:nvSpPr>
          <p:cNvPr id="52" name="Shape 50"/>
          <p:cNvSpPr/>
          <p:nvPr/>
        </p:nvSpPr>
        <p:spPr>
          <a:xfrm>
            <a:off x="8275320" y="1143000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3" name="Text 51"/>
          <p:cNvSpPr/>
          <p:nvPr/>
        </p:nvSpPr>
        <p:spPr>
          <a:xfrm>
            <a:off x="836676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Leaflet.js 地图引擎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8366760" y="1600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卫星底图+矢量叠加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0168128" y="2331720"/>
            <a:ext cx="0" cy="164592"/>
          </a:xfrm>
          <a:prstGeom prst="line">
            <a:avLst/>
          </a:prstGeom>
          <a:noFill/>
          <a:ln w="9525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6" name="Shape 54"/>
          <p:cNvSpPr/>
          <p:nvPr/>
        </p:nvSpPr>
        <p:spPr>
          <a:xfrm>
            <a:off x="8275320" y="2441448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7" name="Text 55"/>
          <p:cNvSpPr/>
          <p:nvPr/>
        </p:nvSpPr>
        <p:spPr>
          <a:xfrm>
            <a:off x="8366760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Chart.js 图表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8366760" y="28986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可拖拽底部条</a:t>
            </a: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10168128" y="3630168"/>
            <a:ext cx="0" cy="164592"/>
          </a:xfrm>
          <a:prstGeom prst="line">
            <a:avLst/>
          </a:prstGeom>
          <a:noFill/>
          <a:ln w="9525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0" name="Shape 58"/>
          <p:cNvSpPr/>
          <p:nvPr/>
        </p:nvSpPr>
        <p:spPr>
          <a:xfrm>
            <a:off x="8275320" y="3739896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59"/>
          <p:cNvSpPr/>
          <p:nvPr/>
        </p:nvSpPr>
        <p:spPr>
          <a:xfrm>
            <a:off x="8366760" y="3831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GeoJSON 嵌入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8366760" y="41970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单HTML文件交付</a:t>
            </a: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10168128" y="4928616"/>
            <a:ext cx="0" cy="164592"/>
          </a:xfrm>
          <a:prstGeom prst="line">
            <a:avLst/>
          </a:prstGeom>
          <a:noFill/>
          <a:ln w="9525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4" name="Shape 62"/>
          <p:cNvSpPr/>
          <p:nvPr/>
        </p:nvSpPr>
        <p:spPr>
          <a:xfrm>
            <a:off x="8275320" y="5038344"/>
            <a:ext cx="3794760" cy="1170432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5" name="Text 63"/>
          <p:cNvSpPr/>
          <p:nvPr/>
        </p:nvSpPr>
        <p:spPr>
          <a:xfrm>
            <a:off x="8366760" y="5129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归因诊断逻辑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8366760" y="54955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5类年份自动标注</a:t>
            </a: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8" name="Text 66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8AAA"/>
                </a:solidFill>
              </a:rPr>
              <a:t>全流程 Python (GDAL/NumPy/netCDF4/requests)  +  JavaScript (Leaflet/Chart.js)  ·  无需服务器，单HTML文件离线可用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40E16"/>
          </a:solidFill>
          <a:ln w="12700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</a:rPr>
              <a:t>中亚跨境水资源综合分析平台 · 水利部水资源研究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0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1325880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411480" cy="411480"/>
          </a:xfrm>
          <a:prstGeom prst="ellipse">
            <a:avLst/>
          </a:prstGeom>
          <a:solidFill>
            <a:srgbClr val="4196DE">
              <a:alpha val="25000"/>
            </a:srgbClr>
          </a:solidFill>
          <a:ln w="635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🌧️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1024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196DE"/>
                </a:solidFill>
              </a:rPr>
              <a:t>ERA5-Land 降水精确数据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 CDS 协议后下载 total_precipitation（1981–2024），替换现有GPCP（0.25°→0.1°精度提升），归因不确定度 ±20%→±5%。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5760720" cy="1325880"/>
          </a:xfrm>
          <a:prstGeom prst="rect">
            <a:avLst/>
          </a:prstGeom>
          <a:solidFill>
            <a:srgbClr val="0D1E2E"/>
          </a:solidFill>
          <a:ln w="6350">
            <a:solidFill>
              <a:srgbClr val="A8D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411480" cy="411480"/>
          </a:xfrm>
          <a:prstGeom prst="ellipse">
            <a:avLst/>
          </a:prstGeom>
          <a:solidFill>
            <a:srgbClr val="A8D8EA">
              <a:alpha val="25000"/>
            </a:srgbClr>
          </a:solidFill>
          <a:ln w="6350">
            <a:solidFill>
              <a:srgbClr val="A8D8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D8EA"/>
                </a:solidFill>
              </a:rPr>
              <a:t>RGI 7.0 冰川轮廓数据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下载中亚区域冰川边界矢量，叠加到卫星底图，量化萨雷扎兹流域逐年冰川退缩面积，替代文献估算值。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803904"/>
            <a:ext cx="5760720" cy="1325880"/>
          </a:xfrm>
          <a:prstGeom prst="rect">
            <a:avLst/>
          </a:prstGeom>
          <a:solidFill>
            <a:srgbClr val="0D1E2E"/>
          </a:solidFill>
          <a:ln w="63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411480" cy="411480"/>
          </a:xfrm>
          <a:prstGeom prst="ellipse">
            <a:avLst/>
          </a:prstGeom>
          <a:solidFill>
            <a:srgbClr val="2DC653">
              <a:alpha val="25000"/>
            </a:srgbClr>
          </a:solidFill>
          <a:ln w="63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05840" y="3913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C653"/>
                </a:solidFill>
              </a:rPr>
              <a:t>GRDC 实测流量站数据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注册GRDC，获取纳伦河/锡尔河长序列实测径流数据，作为跨境流量估算的校验基准。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5248656"/>
            <a:ext cx="5760720" cy="1325880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22" name="Shape 20"/>
          <p:cNvSpPr/>
          <p:nvPr/>
        </p:nvSpPr>
        <p:spPr>
          <a:xfrm>
            <a:off x="502920" y="5358384"/>
            <a:ext cx="411480" cy="411480"/>
          </a:xfrm>
          <a:prstGeom prst="ellipse">
            <a:avLst/>
          </a:prstGeom>
          <a:solidFill>
            <a:srgbClr val="FF6B35">
              <a:alpha val="25000"/>
            </a:srgbClr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502920" y="5358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05840" y="53583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</a:rPr>
              <a:t>扩展至阿姆河流域（方向3）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572414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下载塔吉克/乌兹别克OSM数据，建立阿姆河+咸海流域水量监测，支援中亚国家水利规划。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2286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结语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6675120" y="749808"/>
            <a:ext cx="5029200" cy="0"/>
          </a:xfrm>
          <a:prstGeom prst="line">
            <a:avLst/>
          </a:prstGeom>
          <a:noFill/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8" name="Shape 26"/>
          <p:cNvSpPr/>
          <p:nvPr/>
        </p:nvSpPr>
        <p:spPr>
          <a:xfrm>
            <a:off x="7863840" y="274320"/>
            <a:ext cx="5852160" cy="5852160"/>
          </a:xfrm>
          <a:prstGeom prst="ellipse">
            <a:avLst/>
          </a:prstGeom>
          <a:solidFill>
            <a:srgbClr val="00C8F0">
              <a:alpha val="10000"/>
            </a:srgbClr>
          </a:solidFill>
          <a:ln w="635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Shape 27"/>
          <p:cNvSpPr/>
          <p:nvPr/>
        </p:nvSpPr>
        <p:spPr>
          <a:xfrm>
            <a:off x="8503920" y="914400"/>
            <a:ext cx="4572000" cy="4572000"/>
          </a:xfrm>
          <a:prstGeom prst="ellipse">
            <a:avLst/>
          </a:prstGeom>
          <a:solidFill>
            <a:srgbClr val="00C8F0">
              <a:alpha val="12000"/>
            </a:srgbClr>
          </a:solidFill>
          <a:ln w="635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0" name="Shape 28"/>
          <p:cNvSpPr/>
          <p:nvPr/>
        </p:nvSpPr>
        <p:spPr>
          <a:xfrm>
            <a:off x="9144000" y="1554480"/>
            <a:ext cx="3291840" cy="3291840"/>
          </a:xfrm>
          <a:prstGeom prst="ellipse">
            <a:avLst/>
          </a:prstGeom>
          <a:solidFill>
            <a:srgbClr val="00C8F0">
              <a:alpha val="15000"/>
            </a:srgbClr>
          </a:solidFill>
          <a:ln w="635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1" name="Shape 29"/>
          <p:cNvSpPr/>
          <p:nvPr/>
        </p:nvSpPr>
        <p:spPr>
          <a:xfrm>
            <a:off x="9784080" y="2194560"/>
            <a:ext cx="2011680" cy="2011680"/>
          </a:xfrm>
          <a:prstGeom prst="ellipse">
            <a:avLst/>
          </a:prstGeom>
          <a:solidFill>
            <a:srgbClr val="00C8F0">
              <a:alpha val="25000"/>
            </a:srgbClr>
          </a:solidFill>
          <a:ln w="635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2" name="Text 30"/>
          <p:cNvSpPr/>
          <p:nvPr/>
        </p:nvSpPr>
        <p:spPr>
          <a:xfrm>
            <a:off x="6675120" y="10058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A8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本项目建立了
</a:t>
            </a: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中亚跨境水资源</a:t>
            </a:r>
            <a:endParaRPr lang="en-US" sz="28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综合分析平台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675120" y="2514600"/>
            <a:ext cx="2468880" cy="868680"/>
          </a:xfrm>
          <a:prstGeom prst="rect">
            <a:avLst/>
          </a:prstGeom>
          <a:solidFill>
            <a:srgbClr val="0D1E2E"/>
          </a:solidFill>
          <a:ln w="635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4" name="Text 32"/>
          <p:cNvSpPr/>
          <p:nvPr/>
        </p:nvSpPr>
        <p:spPr>
          <a:xfrm>
            <a:off x="66751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F0"/>
                </a:solidFill>
              </a:rPr>
              <a:t>8年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667512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AAA"/>
                </a:solidFill>
              </a:rPr>
              <a:t>卫星遥感监测序列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0" y="2514600"/>
            <a:ext cx="2468880" cy="868680"/>
          </a:xfrm>
          <a:prstGeom prst="rect">
            <a:avLst/>
          </a:prstGeom>
          <a:solidFill>
            <a:srgbClr val="0D1E2E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7" name="Text 35"/>
          <p:cNvSpPr/>
          <p:nvPr/>
        </p:nvSpPr>
        <p:spPr>
          <a:xfrm>
            <a:off x="93268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3946"/>
                </a:solidFill>
              </a:rPr>
              <a:t>45年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932688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AAA"/>
                </a:solidFill>
              </a:rPr>
              <a:t>ERA5气候实测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75120" y="3566160"/>
            <a:ext cx="2468880" cy="868680"/>
          </a:xfrm>
          <a:prstGeom prst="rect">
            <a:avLst/>
          </a:prstGeom>
          <a:solidFill>
            <a:srgbClr val="0D1E2E"/>
          </a:solidFill>
          <a:ln w="6350">
            <a:solidFill>
              <a:srgbClr val="4196D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0" name="Text 38"/>
          <p:cNvSpPr/>
          <p:nvPr/>
        </p:nvSpPr>
        <p:spPr>
          <a:xfrm>
            <a:off x="667512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196DE"/>
                </a:solidFill>
              </a:rPr>
              <a:t>47年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667512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AAA"/>
                </a:solidFill>
              </a:rPr>
              <a:t>GPCP降水数据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326880" y="3566160"/>
            <a:ext cx="2468880" cy="868680"/>
          </a:xfrm>
          <a:prstGeom prst="rect">
            <a:avLst/>
          </a:prstGeom>
          <a:solidFill>
            <a:srgbClr val="0D1E2E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3" name="Text 41"/>
          <p:cNvSpPr/>
          <p:nvPr/>
        </p:nvSpPr>
        <p:spPr>
          <a:xfrm>
            <a:off x="93268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35"/>
                </a:solidFill>
              </a:rPr>
              <a:t>7条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932688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AAA"/>
                </a:solidFill>
              </a:rPr>
              <a:t>主干河流矢量化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675120" y="4617720"/>
            <a:ext cx="5212080" cy="2148840"/>
          </a:xfrm>
          <a:prstGeom prst="rect">
            <a:avLst/>
          </a:prstGeom>
          <a:solidFill>
            <a:srgbClr val="0A1F2E"/>
          </a:solidFill>
          <a:ln w="9525">
            <a:solidFill>
              <a:srgbClr val="1A335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6" name="Text 44"/>
          <p:cNvSpPr/>
          <p:nvPr/>
        </p:nvSpPr>
        <p:spPr>
          <a:xfrm>
            <a:off x="6812280" y="4754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C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 ·  可追溯  ·  持续更新
</a:t>
            </a:r>
            <a:r>
              <a:rPr lang="en-US" sz="2000" dirty="0">
                <a:solidFill>
                  <a:srgbClr val="CCE5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平台以单一 HTML 文件交付，离线可用，
数据层随新气候数据自动升级精度，
可作为对外合作的技术展示与谈判依据。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Microsoft Macintosh PowerPoint</Application>
  <PresentationFormat>Widescreen</PresentationFormat>
  <Paragraphs>358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Microsoft YaHei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中亚跨境水资源综合分析平台</dc:title>
  <dc:subject>PptxGenJS Presentation</dc:subject>
  <dc:creator>水资源分析团队</dc:creator>
  <cp:lastModifiedBy>Yunfei Li</cp:lastModifiedBy>
  <cp:revision>2</cp:revision>
  <dcterms:created xsi:type="dcterms:W3CDTF">2026-06-04T16:18:19Z</dcterms:created>
  <dcterms:modified xsi:type="dcterms:W3CDTF">2026-06-04T16:23:04Z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Internal</vt:lpwstr>
  </property>
</Properties>
</file>